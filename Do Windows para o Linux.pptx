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27.xml.rels" ContentType="application/vnd.openxmlformats-package.relationships+xml"/>
  <Override PartName="/ppt/slides/_rels/slide18.xml.rels" ContentType="application/vnd.openxmlformats-package.relationships+xml"/>
  <Override PartName="/ppt/slides/_rels/slide11.xml.rels" ContentType="application/vnd.openxmlformats-package.relationships+xml"/>
  <Override PartName="/ppt/slides/_rels/slide28.xml.rels" ContentType="application/vnd.openxmlformats-package.relationships+xml"/>
  <Override PartName="/ppt/slides/_rels/slide30.xml.rels" ContentType="application/vnd.openxmlformats-package.relationships+xml"/>
  <Override PartName="/ppt/slides/_rels/slide19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22.xml.rels" ContentType="application/vnd.openxmlformats-package.relationships+xml"/>
  <Override PartName="/ppt/slides/_rels/slide5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29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25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1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_rels/slide9.xml.rels" ContentType="application/vnd.openxmlformats-package.relationships+xml"/>
  <Override PartName="/ppt/slides/_rels/slide26.xml.rels" ContentType="application/vnd.openxmlformats-package.relationships+xml"/>
  <Override PartName="/ppt/slides/slide29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4.xml" ContentType="application/vnd.openxmlformats-officedocument.presentationml.slide+xml"/>
  <Override PartName="/ppt/slides/slide12.xml" ContentType="application/vnd.openxmlformats-officedocument.presentationml.slide+xml"/>
  <Override PartName="/ppt/slides/slide24.xml" ContentType="application/vnd.openxmlformats-officedocument.presentationml.slide+xml"/>
  <Override PartName="/ppt/slides/slide5.xml" ContentType="application/vnd.openxmlformats-officedocument.presentationml.slide+xml"/>
  <Override PartName="/ppt/slides/slide13.xml" ContentType="application/vnd.openxmlformats-officedocument.presentationml.slide+xml"/>
  <Override PartName="/ppt/slides/slide25.xml" ContentType="application/vnd.openxmlformats-officedocument.presentationml.slide+xml"/>
  <Override PartName="/ppt/slides/slide30.xml" ContentType="application/vnd.openxmlformats-officedocument.presentationml.slide+xml"/>
  <Override PartName="/ppt/slides/slide28.xml" ContentType="application/vnd.openxmlformats-officedocument.presentationml.slide+xml"/>
  <Override PartName="/ppt/slides/slide11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15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_rels/presentation.xml.rels" ContentType="application/vnd.openxmlformats-package.relationships+xml"/>
  <Override PartName="/ppt/media/image13.png" ContentType="image/png"/>
  <Override PartName="/ppt/media/image4.png" ContentType="image/png"/>
  <Override PartName="/ppt/media/image9.png" ContentType="image/png"/>
  <Override PartName="/ppt/media/image18.png" ContentType="image/png"/>
  <Override PartName="/ppt/media/image14.png" ContentType="image/png"/>
  <Override PartName="/ppt/media/image5.png" ContentType="image/png"/>
  <Override PartName="/ppt/media/image15.png" ContentType="image/png"/>
  <Override PartName="/ppt/media/image6.png" ContentType="image/png"/>
  <Override PartName="/ppt/media/image10.png" ContentType="image/png"/>
  <Override PartName="/ppt/media/image1.png" ContentType="image/png"/>
  <Override PartName="/ppt/media/image16.png" ContentType="image/png"/>
  <Override PartName="/ppt/media/image7.png" ContentType="image/png"/>
  <Override PartName="/ppt/media/image11.png" ContentType="image/png"/>
  <Override PartName="/ppt/media/image2.png" ContentType="image/png"/>
  <Override PartName="/ppt/media/image17.png" ContentType="image/png"/>
  <Override PartName="/ppt/media/image8.png" ContentType="image/png"/>
  <Override PartName="/ppt/media/image12.png" ContentType="image/png"/>
  <Override PartName="/ppt/media/image3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uas Partes de Conteú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 estilo </a:t>
            </a:r>
            <a:r>
              <a:rPr b="0" lang="pt-BR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do título mestre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740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os estilos do texto </a:t>
            </a: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mestre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740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os estilos do texto mestre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6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3AE8671-AC0A-40FC-9CA7-71701A0B286F}" type="slidenum">
              <a: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10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açã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 estilo do título mestre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200" cy="63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os estilos do texto mestre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200" cy="3950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os estilos do texto mestre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pt-BR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pt-BR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0640" cy="63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os estilos do texto mestre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0640" cy="3950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os estilos do texto mestre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pt-BR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pt-BR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7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8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79DD8D8-95E4-4FA5-BA2B-19FB062A8094}" type="slidenum">
              <a: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10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omente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 estilo do título mestre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235EB82-951C-444D-A8CC-ECA265E884E4}" type="slidenum">
              <a: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10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m branc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36395B1-482B-457E-9840-053C17F19FDB}" type="slidenum">
              <a: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10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5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do texto do título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5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údo com Legend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080" cy="116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 estilo do título mestre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0560" cy="585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os estilos do texto mestre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080" cy="469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os estilos do texto mestre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6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50F3A50-4EEF-4635-9B1B-9CBA9F5275C1}" type="slidenum">
              <a: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agem com Legend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5320" cy="56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 estilo do título mestre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5320" cy="80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os estilos do texto mestre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58E168D-ECBB-4A6A-BD50-4ED80958EF4D}" type="slidenum">
              <a: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lide de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320" cy="146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 estilo do título mestre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66C33F7-8BDE-48E9-BE61-05AEAB30B1C8}" type="slidenum">
              <a: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5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ítulo e texto vertica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 estilo do título mestre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os estilos do texto mestre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D4575B0-AF04-46FF-A817-38FCD62BF0C1}" type="slidenum">
              <a: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ítulo e texto verticai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6320" cy="585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 estilo do título mestre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8840" cy="585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os estilos do texto mestre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6EF4960-E78E-4DA3-8A33-3AC065D9A6F1}" type="slidenum">
              <a: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ítulo e conteú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 estilo do título mestre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os estilos do texto mestre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6E3A1AD-7322-443B-BC8A-24B1A1635798}" type="slidenum">
              <a: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beçalho da Seçã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1320" cy="1361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Clique para editar o estilo do título mestre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1320" cy="149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pt-BR" sz="2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Clique para editar os estilos do texto mestre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BD4B68C-3621-4FBE-B25C-61C845F01EE1}" type="slidenum">
              <a: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7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hyperlink" Target="https://youtube.com/@cecanho" TargetMode="External"/><Relationship Id="rId2" Type="http://schemas.openxmlformats.org/officeDocument/2006/relationships/hyperlink" Target="https://github.com/cecanho" TargetMode="Externa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10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0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0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0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10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10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slideLayout" Target="../slideLayouts/slideLayout10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slideLayout" Target="../slideLayouts/slideLayout10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0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4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320" cy="146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Do Windows para o Linux: as dores de cabeça que todo Dev tem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subTitle"/>
          </p:nvPr>
        </p:nvSpPr>
        <p:spPr>
          <a:xfrm>
            <a:off x="2631600" y="5866200"/>
            <a:ext cx="6399720" cy="793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anchorCtr="1">
            <a:noAutofit/>
          </a:bodyPr>
          <a:p>
            <a:pPr indent="0" algn="r" defTabSz="9144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pt-BR" sz="21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Prof. Esp. Cristiano José Cecanho</a:t>
            </a:r>
            <a:endParaRPr b="0" lang="pt-BR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2" name="" descr=""/>
          <p:cNvPicPr/>
          <p:nvPr/>
        </p:nvPicPr>
        <p:blipFill>
          <a:blip r:embed="rId1"/>
          <a:stretch/>
        </p:blipFill>
        <p:spPr>
          <a:xfrm>
            <a:off x="4680000" y="3960000"/>
            <a:ext cx="4333320" cy="1732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3" name="" descr=""/>
          <p:cNvPicPr/>
          <p:nvPr/>
        </p:nvPicPr>
        <p:blipFill>
          <a:blip r:embed="rId2"/>
          <a:stretch/>
        </p:blipFill>
        <p:spPr>
          <a:xfrm>
            <a:off x="357480" y="900000"/>
            <a:ext cx="902160" cy="1071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Sobre mim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0" defTabSz="9144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Formação: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Bacharel em Sistemas de Informação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Especialista em Tecnologias e Educação a Distancia.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defTabSz="9144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Trabalhos: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Em metalurgia: Odontécnica e MBM Decor.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Na educação: ETEC Prof. Armando Bayeux da Silva e ASSER.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Sobre mim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 defTabSz="9144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  <a:hlinkClick r:id="rId1"/>
              </a:rPr>
              <a:t>https://youtube.com/@cecanho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 defTabSz="9144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 defTabSz="9144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  <a:hlinkClick r:id="rId2"/>
              </a:rPr>
              <a:t>https://github.com/cecanho</a:t>
            </a: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          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8" name="" descr=""/>
          <p:cNvPicPr/>
          <p:nvPr/>
        </p:nvPicPr>
        <p:blipFill>
          <a:blip r:embed="rId3"/>
          <a:stretch/>
        </p:blipFill>
        <p:spPr>
          <a:xfrm>
            <a:off x="380160" y="2586600"/>
            <a:ext cx="1599120" cy="1408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9" name="" descr=""/>
          <p:cNvPicPr/>
          <p:nvPr/>
        </p:nvPicPr>
        <p:blipFill>
          <a:blip r:embed="rId4"/>
          <a:stretch/>
        </p:blipFill>
        <p:spPr>
          <a:xfrm>
            <a:off x="457200" y="3600000"/>
            <a:ext cx="1365120" cy="765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Introdução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0" defTabSz="9144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Aprender sobre o processo de adaptação em uma plataforma diferente da habitual pode ser processo de aprendizado.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defTabSz="9144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defTabSz="9144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Ideal para quem busca novas habilidades e explorar novos caminhos no desenvolvimento de software.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defTabSz="9144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Introdução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0" defTabSz="9144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Por que trocar o Windows pelo Linux?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defTabSz="9144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- Fim do suporte da Microsoft ao Windows 10. 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defTabSz="9144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defTabSz="9144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Vulnerabilidades a: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defTabSz="9144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- Vírus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defTabSz="9144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- Malware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defTabSz="9144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- Ataques cibernéticos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4" name="" descr=""/>
          <p:cNvPicPr/>
          <p:nvPr/>
        </p:nvPicPr>
        <p:blipFill>
          <a:blip r:embed="rId1"/>
          <a:stretch/>
        </p:blipFill>
        <p:spPr>
          <a:xfrm>
            <a:off x="5760000" y="3240000"/>
            <a:ext cx="2856960" cy="1599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Introdução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0" defTabSz="9144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Não tem vírus no Linux?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defTabSz="9144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defTabSz="9144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- Falha Crítica no InetUtils (Março 2026)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defTabSz="9144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- Malware "Void Link" com IA (Janeiro/Fevereiro 2026)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defTabSz="9144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- Falha no Systemd/uutils (Março 2026)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defTabSz="9144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- Ameaças ao Kernel (2024-2025)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Conteúdo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0" defTabSz="9144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Escolha da distro.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defTabSz="9144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Configurações iniciais do ambiente.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defTabSz="9144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Ferramentas equivalentes. 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defTabSz="9144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Dicas para produtividade e customização.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Escolha da distro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Aqui pode conter algum tipo de gosto pessoal, porém você pode considerar: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defTabSz="9144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- Debian.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defTabSz="9144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- Manjaro.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defTabSz="9144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- Fedora.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defTabSz="9144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- Arch Linux.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defTabSz="9144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- Linux Mint.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defTabSz="9144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- Zorin OS.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defTabSz="9144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- Pop! OS.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Escolha da distro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Considere ainda: 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- Seu nível de experiência;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- Hardware disponível;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- Objetivo de uso;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- Comunidade e suporte;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- Ciclo de atualização.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Laboratório com Debian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Debian 13.3.0 (Trixie)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- Suporte regular até junho/julho de 2028.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- Suporte LTS até junho/julho de 2030.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Criar um ambiente para desenvolvimento em PHP.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Laboratório com Debian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6" name="" descr=""/>
          <p:cNvPicPr/>
          <p:nvPr/>
        </p:nvPicPr>
        <p:blipFill>
          <a:blip r:embed="rId1"/>
          <a:stretch/>
        </p:blipFill>
        <p:spPr>
          <a:xfrm>
            <a:off x="648000" y="1728000"/>
            <a:ext cx="7919280" cy="44517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Laboratório com Debian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8" name="" descr=""/>
          <p:cNvPicPr/>
          <p:nvPr/>
        </p:nvPicPr>
        <p:blipFill>
          <a:blip r:embed="rId1"/>
          <a:stretch/>
        </p:blipFill>
        <p:spPr>
          <a:xfrm>
            <a:off x="1140840" y="1695960"/>
            <a:ext cx="6933240" cy="4580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Configurações iniciais do ambiente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CaixaDeTexto 2"/>
          <p:cNvSpPr/>
          <p:nvPr/>
        </p:nvSpPr>
        <p:spPr>
          <a:xfrm>
            <a:off x="755640" y="1628640"/>
            <a:ext cx="7703640" cy="475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su -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usermod -aG sudo usuario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groups usuario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exit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Atualização inicial: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sudo apt update &amp;&amp; sudo apt upgrade –y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s-E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Fontes Microsoft: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sudo apt-add-repository contrib non-free -y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sudo nano /etc/apt/sources.list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sudo sed -i '/^deb / {/\bcontrib\b/! s/ main/ main contrib/}' /etc/apt/sources.list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sudo apt update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sudo apt install ttf-mscorefonts-installer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Configurações iniciais do ambiente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CaixaDeTexto 5"/>
          <p:cNvSpPr/>
          <p:nvPr/>
        </p:nvSpPr>
        <p:spPr>
          <a:xfrm>
            <a:off x="755640" y="1628640"/>
            <a:ext cx="7703640" cy="25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s-E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Instalação do servidor Apache: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sudo apt install apache2 -y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Instalação do PHP: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sudo apt install php php-cli php-common php-mysql php-xml php-curl php-mbstring -y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Configurações iniciais do ambiente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CaixaDeTexto 5"/>
          <p:cNvSpPr/>
          <p:nvPr/>
        </p:nvSpPr>
        <p:spPr>
          <a:xfrm>
            <a:off x="755640" y="1628640"/>
            <a:ext cx="7703640" cy="341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Instalação do banco de dados MariaDB: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sudo apt install mariadb-server mariadb-client -y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Configuração de segurança: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sudo systemctl start mariadb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sudo systemctl enable mariadb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sudo systemctl status mariadb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sudo mariadb-secure-installation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Configurações iniciais do ambiente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CaixaDeTexto 5"/>
          <p:cNvSpPr/>
          <p:nvPr/>
        </p:nvSpPr>
        <p:spPr>
          <a:xfrm>
            <a:off x="755640" y="1628640"/>
            <a:ext cx="7703640" cy="460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Instalação do Composer: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sudo apt install composer -y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s-E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Ferramentas adicionais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s-E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Git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- sudo apt install git -y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360"/>
              </a:spcBef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360"/>
              </a:spcBef>
            </a:pPr>
            <a:r>
              <a:rPr b="1" lang="es-E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Node.js (para front-end integrado)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360"/>
              </a:spcBef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- sudo apt install nodejs npm –y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360"/>
              </a:spcBef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90000"/>
              </a:lnSpc>
              <a:spcBef>
                <a:spcPts val="360"/>
              </a:spcBef>
              <a:tabLst>
                <a:tab algn="l" pos="0"/>
              </a:tabLst>
            </a:pPr>
            <a:r>
              <a:rPr b="1" lang="es-E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Configuração do ambiente (htdocs):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90000"/>
              </a:lnSpc>
              <a:spcBef>
                <a:spcPts val="360"/>
              </a:spcBef>
              <a:tabLst>
                <a:tab algn="l" pos="0"/>
              </a:tabLst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sudo chown -R $USER:www-data /var/www/html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90000"/>
              </a:lnSpc>
              <a:spcBef>
                <a:spcPts val="360"/>
              </a:spcBef>
              <a:tabLst>
                <a:tab algn="l" pos="0"/>
              </a:tabLst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sudo chmod -R 775 /var/www/html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defTabSz="914400">
              <a:lnSpc>
                <a:spcPct val="100000"/>
              </a:lnSpc>
              <a:tabLst>
                <a:tab algn="l" pos="0"/>
              </a:tabLst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Configurações iniciais do ambiente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CaixaDeTexto 5"/>
          <p:cNvSpPr/>
          <p:nvPr/>
        </p:nvSpPr>
        <p:spPr>
          <a:xfrm>
            <a:off x="755640" y="1628640"/>
            <a:ext cx="7703640" cy="447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Instalação do PHPMyAdmin: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sudo apt install phpmyadmin –y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Durante a instalação: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- Escolha o servidor web (</a:t>
            </a:r>
            <a:r>
              <a:rPr b="1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Apache </a:t>
            </a: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ou Nginx).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- Configure o banco de dados para phpMyAdmin.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- Defina uma senha para o usuário administrativo.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Verifique se o link simbólico foi criado: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sudo ln -s /usr/share/phpmyadmin /var/www/html/phpmyadmin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Acesse o navegador: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http://localhost/phpmyadmin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Configurações iniciais do ambiente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CaixaDeTexto 5"/>
          <p:cNvSpPr/>
          <p:nvPr/>
        </p:nvSpPr>
        <p:spPr>
          <a:xfrm>
            <a:off x="755640" y="1628640"/>
            <a:ext cx="7703640" cy="447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Instalação Xdebug: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sudo apt install php-xdebug -y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Arquivo de configuração: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sudo nano /etc/php/*/mods-available/xdebug.ini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Adicione ou ajuste as linhas: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zend_extension=xdebug.so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xdebug.mode=debug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xdebug.start_with_request=yes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xdebug.client_port=9003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xdebug.log=/var/log/xdebug.log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Reinicie o servidor: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sudo systemctl restart apache2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Configurações iniciais do ambiente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CaixaDeTexto 5"/>
          <p:cNvSpPr/>
          <p:nvPr/>
        </p:nvSpPr>
        <p:spPr>
          <a:xfrm>
            <a:off x="755640" y="1628640"/>
            <a:ext cx="7703640" cy="222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Teste a instalação do PHP e do Xdebug: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php -v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Você deve obter algo como: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with Xdebug v3.x.x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Configurações iniciais do ambiente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CaixaDeTexto 1"/>
          <p:cNvSpPr/>
          <p:nvPr/>
        </p:nvSpPr>
        <p:spPr>
          <a:xfrm>
            <a:off x="755640" y="1628640"/>
            <a:ext cx="7703640" cy="344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Instalação do VS Code: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wget -qO- https://code.visualstudio.com/sha/download?build=stable&amp;os=linux-deb-x64 -O vscode.deb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sudo dpkg -i code_1.111.0-1772846623_amd64.deb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sudo apt --fix-broken install 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"/>
          <p:cNvSpPr/>
          <p:nvPr/>
        </p:nvSpPr>
        <p:spPr>
          <a:xfrm>
            <a:off x="4517640" y="2895840"/>
            <a:ext cx="180000" cy="23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Configurações iniciais do ambiente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CaixaDeTexto 5"/>
          <p:cNvSpPr/>
          <p:nvPr/>
        </p:nvSpPr>
        <p:spPr>
          <a:xfrm>
            <a:off x="755640" y="1628640"/>
            <a:ext cx="7703640" cy="22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Configuração de VS Code com Xdebug: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1. Instale a extensão PHP Debug no VS Code: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- Abra o VS Code → Extensões → procure por PHP Debug (desenvolvida por Felix Becker) → instale.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Configurações iniciais do ambiente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CaixaDeTexto 3"/>
          <p:cNvSpPr/>
          <p:nvPr/>
        </p:nvSpPr>
        <p:spPr>
          <a:xfrm>
            <a:off x="755640" y="1628640"/>
            <a:ext cx="7703640" cy="502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2. Crie o arquivo de configuração launch.json: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- No VS Code, vá em Executar e Depurar → Criar um arquivo launch.json → escolha PHP.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Font typeface="OpenSymbol"/>
              <a:buChar char="-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Substitua o conteúdo por algo como (reinicie o servidor ao final):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{    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b="0" lang="pt-BR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"version": "0.2.0",    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b="0" lang="pt-BR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"configurations": [        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b="0" lang="pt-BR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{            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b="0" lang="pt-BR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b="0" lang="pt-BR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"name": "Listen for Xdebug",            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b="0" lang="pt-BR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b="0" lang="pt-BR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"type": "php",            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b="0" lang="pt-BR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b="0" lang="pt-BR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"request": "launch",            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b="0" lang="pt-BR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b="0" lang="pt-BR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"port": 9003,            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b="0" lang="pt-BR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b="0" lang="pt-BR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"pathMappings": {                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b="0" lang="pt-BR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b="0" lang="pt-BR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"/var/www/html": "${workspaceFolder}"            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b="0" lang="pt-BR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b="0" lang="pt-BR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}        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b="0" lang="pt-BR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}    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b="0" lang="pt-BR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]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}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Ferramentas equivalentes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0" defTabSz="9144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PHP Storm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defTabSz="9144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VS Code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defTabSz="9144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VS Codium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defTabSz="9144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Eclipse (Java)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defTabSz="9144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IntelliJ (Java - Python)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defTabSz="9144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Ferramentas equivalentes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180000" y="2332440"/>
            <a:ext cx="4064760" cy="270684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ctr">
              <a:lnSpc>
                <a:spcPct val="100000"/>
              </a:lnSpc>
            </a:pPr>
            <a:r>
              <a:rPr b="1" lang="pt-BR" sz="3600" strike="noStrike" u="none">
                <a:ln>
                  <a:solidFill>
                    <a:srgbClr val="ff0000"/>
                  </a:solidFill>
                </a:ln>
                <a:solidFill>
                  <a:srgbClr val="ffffff"/>
                </a:solidFill>
                <a:effectLst/>
                <a:uFillTx/>
                <a:latin typeface="Arial"/>
              </a:rPr>
              <a:t>Corel Draw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"/>
          <p:cNvSpPr/>
          <p:nvPr/>
        </p:nvSpPr>
        <p:spPr>
          <a:xfrm>
            <a:off x="4500000" y="2340000"/>
            <a:ext cx="4331880" cy="269928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ctr">
              <a:lnSpc>
                <a:spcPct val="100000"/>
              </a:lnSpc>
            </a:pPr>
            <a:r>
              <a:rPr b="0" lang="pt-BR" sz="4200" strike="noStrike" u="none">
                <a:ln>
                  <a:solidFill>
                    <a:srgbClr val="ff0000"/>
                  </a:solidFill>
                </a:ln>
                <a:solidFill>
                  <a:srgbClr val="ffffff"/>
                </a:solidFill>
                <a:effectLst/>
                <a:uFillTx/>
                <a:latin typeface="Arial"/>
              </a:rPr>
              <a:t>Inkscape</a:t>
            </a:r>
            <a:endParaRPr b="0" lang="pt-BR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Ferramentas equivalentes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"/>
          <p:cNvSpPr/>
          <p:nvPr/>
        </p:nvSpPr>
        <p:spPr>
          <a:xfrm>
            <a:off x="94320" y="2340000"/>
            <a:ext cx="4292280" cy="269928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ctr">
              <a:lnSpc>
                <a:spcPct val="100000"/>
              </a:lnSpc>
            </a:pPr>
            <a:r>
              <a:rPr b="0" lang="pt-BR" sz="4200" strike="noStrike" u="none">
                <a:ln>
                  <a:solidFill>
                    <a:srgbClr val="ff0000"/>
                  </a:solidFill>
                </a:ln>
                <a:solidFill>
                  <a:srgbClr val="ffffff"/>
                </a:solidFill>
                <a:effectLst/>
                <a:uFillTx/>
                <a:latin typeface="Arial"/>
              </a:rPr>
              <a:t>Photoshop</a:t>
            </a:r>
            <a:endParaRPr b="0" lang="pt-BR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"/>
          <p:cNvSpPr/>
          <p:nvPr/>
        </p:nvSpPr>
        <p:spPr>
          <a:xfrm>
            <a:off x="4500000" y="2340000"/>
            <a:ext cx="4402440" cy="269928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ctr">
              <a:lnSpc>
                <a:spcPct val="100000"/>
              </a:lnSpc>
            </a:pPr>
            <a:r>
              <a:rPr b="0" lang="pt-BR" sz="4800" strike="noStrike" u="none">
                <a:ln>
                  <a:solidFill>
                    <a:srgbClr val="ff0000"/>
                  </a:solidFill>
                </a:ln>
                <a:solidFill>
                  <a:srgbClr val="ffffff"/>
                </a:solidFill>
                <a:effectLst/>
                <a:uFillTx/>
                <a:latin typeface="Arial"/>
              </a:rPr>
              <a:t>Gimp</a:t>
            </a:r>
            <a:endParaRPr b="0" lang="pt-BR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Ferramentas equivalentes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9" name="" descr=""/>
          <p:cNvPicPr/>
          <p:nvPr/>
        </p:nvPicPr>
        <p:blipFill>
          <a:blip r:embed="rId1"/>
          <a:stretch/>
        </p:blipFill>
        <p:spPr>
          <a:xfrm>
            <a:off x="262440" y="2340000"/>
            <a:ext cx="4056840" cy="269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0" name="" descr=""/>
          <p:cNvPicPr/>
          <p:nvPr/>
        </p:nvPicPr>
        <p:blipFill>
          <a:blip r:embed="rId2"/>
          <a:stretch/>
        </p:blipFill>
        <p:spPr>
          <a:xfrm>
            <a:off x="5062680" y="1800000"/>
            <a:ext cx="2856600" cy="1599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1" name="" descr=""/>
          <p:cNvPicPr/>
          <p:nvPr/>
        </p:nvPicPr>
        <p:blipFill>
          <a:blip r:embed="rId3"/>
          <a:stretch/>
        </p:blipFill>
        <p:spPr>
          <a:xfrm>
            <a:off x="5040000" y="3800160"/>
            <a:ext cx="2846880" cy="1599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Ferramentas equivalentes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3" name="" descr=""/>
          <p:cNvPicPr/>
          <p:nvPr/>
        </p:nvPicPr>
        <p:blipFill>
          <a:blip r:embed="rId1"/>
          <a:stretch/>
        </p:blipFill>
        <p:spPr>
          <a:xfrm>
            <a:off x="720000" y="2700000"/>
            <a:ext cx="3285000" cy="2323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4" name="" descr=""/>
          <p:cNvPicPr/>
          <p:nvPr/>
        </p:nvPicPr>
        <p:blipFill>
          <a:blip r:embed="rId2"/>
          <a:stretch/>
        </p:blipFill>
        <p:spPr>
          <a:xfrm>
            <a:off x="4680000" y="2700000"/>
            <a:ext cx="3754080" cy="2339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2500" lnSpcReduction="1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Dicas para produtividade e customização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6" name="" descr=""/>
          <p:cNvPicPr/>
          <p:nvPr/>
        </p:nvPicPr>
        <p:blipFill>
          <a:blip r:embed="rId1"/>
          <a:stretch/>
        </p:blipFill>
        <p:spPr>
          <a:xfrm>
            <a:off x="720000" y="1790280"/>
            <a:ext cx="7587720" cy="4761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CaixaDeTexto 6"/>
          <p:cNvSpPr/>
          <p:nvPr/>
        </p:nvSpPr>
        <p:spPr>
          <a:xfrm>
            <a:off x="3060000" y="2853000"/>
            <a:ext cx="296748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pt-BR" sz="4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Dúvidas?</a:t>
            </a:r>
            <a:endParaRPr b="0" lang="pt-BR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8" name="" descr=""/>
          <p:cNvPicPr/>
          <p:nvPr/>
        </p:nvPicPr>
        <p:blipFill>
          <a:blip r:embed="rId1"/>
          <a:stretch/>
        </p:blipFill>
        <p:spPr>
          <a:xfrm>
            <a:off x="6772680" y="5096160"/>
            <a:ext cx="2370960" cy="1923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CaixaDeTexto 4"/>
          <p:cNvSpPr/>
          <p:nvPr/>
        </p:nvSpPr>
        <p:spPr>
          <a:xfrm>
            <a:off x="1002960" y="2160000"/>
            <a:ext cx="7793280" cy="371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pt-BR" sz="4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Agradecimentos</a:t>
            </a:r>
            <a:endParaRPr b="0" lang="pt-BR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pt-BR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pt-BR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                        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pt-B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pt-B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r>
              <a:rPr b="0" i="1" lang="pt-BR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b="0" i="1" lang="pt-BR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   </a:t>
            </a:r>
            <a:r>
              <a:rPr b="0" i="1" lang="pt-BR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b="0" i="1" lang="pt-BR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b="0" i="1" lang="pt-BR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b="0" i="1" lang="pt-BR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In memorian: aos meus pais</a:t>
            </a:r>
            <a:endParaRPr b="0" lang="pt-B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0" name="" descr=""/>
          <p:cNvPicPr/>
          <p:nvPr/>
        </p:nvPicPr>
        <p:blipFill>
          <a:blip r:embed="rId1"/>
          <a:stretch/>
        </p:blipFill>
        <p:spPr>
          <a:xfrm>
            <a:off x="166320" y="3138120"/>
            <a:ext cx="4333320" cy="1732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262</TotalTime>
  <Application>LibreOffice/25.2.3.2$Linux_X86_64 LibreOffice_project/520$Build-2</Application>
  <AppVersion>15.0000</AppVersion>
  <Words>577</Words>
  <Paragraphs>142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2026-03-10T21:55:50Z</dcterms:created>
  <dc:creator>Cristiano</dc:creator>
  <dc:description/>
  <dc:language>pt-BR</dc:language>
  <cp:lastModifiedBy/>
  <dcterms:modified xsi:type="dcterms:W3CDTF">2026-03-20T15:11:45Z</dcterms:modified>
  <cp:revision>28</cp:revision>
  <dc:subject/>
  <dc:title>Do Windows para o Linux: as dores de cabeça que todo Dev tem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Apresentação na tela (4:3)</vt:lpwstr>
  </property>
  <property fmtid="{D5CDD505-2E9C-101B-9397-08002B2CF9AE}" pid="3" name="Slides">
    <vt:i4>19</vt:i4>
  </property>
</Properties>
</file>